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0" r:id="rId6"/>
    <p:sldId id="266" r:id="rId7"/>
    <p:sldId id="263" r:id="rId8"/>
    <p:sldId id="261" r:id="rId9"/>
    <p:sldId id="262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503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957263"/>
            <a:ext cx="85725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Convolution and Correlation Visualizer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2773170" y="2714625"/>
            <a:ext cx="359763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EEE 4602 Project Presentation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1979237" y="3671888"/>
            <a:ext cx="51855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Presented by: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979237" y="3929063"/>
            <a:ext cx="51855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Adhnan Kalim, Ar-Rafi Ishraq, Ashfiq Ul Rahman, Tanjim Mahbub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507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Overview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984284"/>
            <a:ext cx="4114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250156"/>
            <a:ext cx="41148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Design and implement a GUI application that allows users to visualize the convolution operation between two signals, supporting both discrete-time and continuous-time signal modes.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285750" y="2381356"/>
            <a:ext cx="4114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28623" y="2737610"/>
            <a:ext cx="3971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Reinforce understanding of convolution in both discrete and continuous domains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428625" y="3265314"/>
            <a:ext cx="39719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Provide hands-on experience with computational tools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428624" y="3550133"/>
            <a:ext cx="3971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an interactive visualization tool for educational purposes</a:t>
            </a:r>
            <a:endParaRPr lang="en-US" sz="1046" dirty="0"/>
          </a:p>
        </p:txBody>
      </p:sp>
      <p:sp>
        <p:nvSpPr>
          <p:cNvPr id="10" name="Shape 7"/>
          <p:cNvSpPr/>
          <p:nvPr/>
        </p:nvSpPr>
        <p:spPr>
          <a:xfrm>
            <a:off x="4743450" y="885825"/>
            <a:ext cx="4114800" cy="179308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850606" y="992981"/>
            <a:ext cx="39004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993481" y="1357313"/>
            <a:ext cx="37576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Signal type selection (discrete/continuous)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4993481" y="1600200"/>
            <a:ext cx="37576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 signal input options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4993481" y="1843088"/>
            <a:ext cx="37576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animation of convolution process</a:t>
            </a:r>
            <a:endParaRPr lang="en-US" sz="837" dirty="0"/>
          </a:p>
        </p:txBody>
      </p:sp>
      <p:sp>
        <p:nvSpPr>
          <p:cNvPr id="15" name="Text 12"/>
          <p:cNvSpPr/>
          <p:nvPr/>
        </p:nvSpPr>
        <p:spPr>
          <a:xfrm>
            <a:off x="4993481" y="2085975"/>
            <a:ext cx="37576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Correlation visualization capability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4993481" y="2328863"/>
            <a:ext cx="37576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Adjustable animation speed and reset controls</a:t>
            </a:r>
            <a:endParaRPr lang="en-US" sz="837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177" y="2737610"/>
            <a:ext cx="3754195" cy="23185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Introduction to Convolution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94755"/>
            <a:ext cx="15057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is Convolution?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285750" y="1100138"/>
            <a:ext cx="41148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mathematical operation that expresses the relationship between an input signal, the impulse response of a system, and the output.</a:t>
            </a:r>
            <a:endParaRPr lang="en-US" sz="1046" dirty="0"/>
          </a:p>
        </p:txBody>
      </p:sp>
      <p:sp>
        <p:nvSpPr>
          <p:cNvPr id="6" name="Shape 3"/>
          <p:cNvSpPr/>
          <p:nvPr/>
        </p:nvSpPr>
        <p:spPr>
          <a:xfrm>
            <a:off x="285750" y="1885950"/>
            <a:ext cx="4114800" cy="1071563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92906" y="199310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continuous time: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392906" y="2207419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(f * g)(t) = ∫ f(τ) g(t - τ) dτ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392906" y="2421731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discrete time: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392906" y="2636044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(f * g)[n] = Σ f[k] g[n - k]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285750" y="3180755"/>
            <a:ext cx="9259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Applications: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428625" y="3386138"/>
            <a:ext cx="39719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Signal processing: filtering signals, removing noise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428625" y="3671888"/>
            <a:ext cx="39719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 analysis: feature extraction, edge detection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428625" y="3957638"/>
            <a:ext cx="39719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Machine learning: convolutional neural networks (CNNs)</a:t>
            </a:r>
            <a:endParaRPr lang="en-US" sz="1046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452" y="1311345"/>
            <a:ext cx="4114800" cy="27534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84"/>
            <a:ext cx="9144000" cy="53649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Discrete-Time Convolution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4114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Mathematical Definition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285875"/>
            <a:ext cx="4114800" cy="64293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92906" y="1393031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(x * h)[n] = Σ x[k] · h[n-k]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392906" y="1607344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where k ranges over all integers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285750" y="2107406"/>
            <a:ext cx="4114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 Steps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85750" y="2507456"/>
            <a:ext cx="214313" cy="214313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0" name="Text 7"/>
          <p:cNvSpPr/>
          <p:nvPr/>
        </p:nvSpPr>
        <p:spPr>
          <a:xfrm>
            <a:off x="285750" y="2507456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571500" y="2507456"/>
            <a:ext cx="281078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Flip the impulse response h[n] to get h[-n]</a:t>
            </a:r>
            <a:endParaRPr lang="en-US" sz="1046" dirty="0"/>
          </a:p>
        </p:txBody>
      </p:sp>
      <p:sp>
        <p:nvSpPr>
          <p:cNvPr id="12" name="Shape 9"/>
          <p:cNvSpPr/>
          <p:nvPr/>
        </p:nvSpPr>
        <p:spPr>
          <a:xfrm>
            <a:off x="285750" y="2793206"/>
            <a:ext cx="214313" cy="214313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3" name="Text 10"/>
          <p:cNvSpPr/>
          <p:nvPr/>
        </p:nvSpPr>
        <p:spPr>
          <a:xfrm>
            <a:off x="285750" y="2793206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571500" y="2793206"/>
            <a:ext cx="18409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Shift h[-n] by n to get h[n-k]</a:t>
            </a:r>
            <a:endParaRPr lang="en-US" sz="1046" dirty="0"/>
          </a:p>
        </p:txBody>
      </p:sp>
      <p:sp>
        <p:nvSpPr>
          <p:cNvPr id="15" name="Shape 12"/>
          <p:cNvSpPr/>
          <p:nvPr/>
        </p:nvSpPr>
        <p:spPr>
          <a:xfrm>
            <a:off x="285750" y="3078956"/>
            <a:ext cx="214313" cy="214313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6" name="Text 13"/>
          <p:cNvSpPr/>
          <p:nvPr/>
        </p:nvSpPr>
        <p:spPr>
          <a:xfrm>
            <a:off x="285750" y="3078956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571500" y="3078956"/>
            <a:ext cx="245918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Multiply x[k] and h[n-k] at each point</a:t>
            </a:r>
            <a:endParaRPr lang="en-US" sz="1046" dirty="0"/>
          </a:p>
        </p:txBody>
      </p:sp>
      <p:sp>
        <p:nvSpPr>
          <p:cNvPr id="18" name="Shape 15"/>
          <p:cNvSpPr/>
          <p:nvPr/>
        </p:nvSpPr>
        <p:spPr>
          <a:xfrm>
            <a:off x="285750" y="3364706"/>
            <a:ext cx="214313" cy="214313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9" name="Text 16"/>
          <p:cNvSpPr/>
          <p:nvPr/>
        </p:nvSpPr>
        <p:spPr>
          <a:xfrm>
            <a:off x="285750" y="3364706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571500" y="3364706"/>
            <a:ext cx="23395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Sum all products to get output y[n]</a:t>
            </a:r>
            <a:endParaRPr lang="en-US" sz="1046" dirty="0"/>
          </a:p>
        </p:txBody>
      </p:sp>
      <p:sp>
        <p:nvSpPr>
          <p:cNvPr id="22" name="Shape 18"/>
          <p:cNvSpPr/>
          <p:nvPr/>
        </p:nvSpPr>
        <p:spPr>
          <a:xfrm>
            <a:off x="276350" y="3964524"/>
            <a:ext cx="4171951" cy="118287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298714" y="3710096"/>
            <a:ext cx="3757613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GUI Implementation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392906" y="4077402"/>
            <a:ext cx="2914259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inputs signal vectors and starting indices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98186" y="4339440"/>
            <a:ext cx="2794899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Animation shows shifting impulse response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92906" y="4581834"/>
            <a:ext cx="2572820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calculation of convolution sum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386631" y="4846463"/>
            <a:ext cx="4013919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plots: input signal, shifting impulse response, and output</a:t>
            </a:r>
            <a:endParaRPr lang="en-US" sz="10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8F54E61-8CE3-66D7-7565-BD1B6E8CE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0513" y="1500187"/>
            <a:ext cx="4302044" cy="28063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591" y="0"/>
            <a:ext cx="9186241" cy="53872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Continuous-Time Convolution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4114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Mathematical Definition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285875"/>
            <a:ext cx="4114800" cy="4286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92906" y="1393031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(f * g)(t) = ∫ f(τ) g(t - τ) dτ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285750" y="1893094"/>
            <a:ext cx="4114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 Steps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85750" y="2284111"/>
            <a:ext cx="6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647002" y="2221706"/>
            <a:ext cx="41148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Flip one signal: g(τ) → g(-τ)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285750" y="2712736"/>
            <a:ext cx="6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647002" y="2610422"/>
            <a:ext cx="41148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Shift the flipped signal: g(-τ) → g(t-τ)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285750" y="3141361"/>
            <a:ext cx="6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647067" y="3010566"/>
            <a:ext cx="41148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Multiply the signals: f(τ) × g(t-τ)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285750" y="3569986"/>
            <a:ext cx="6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647002" y="3415294"/>
            <a:ext cx="305051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Integrate the product over all τ &amp; repeat for all t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285750" y="3998611"/>
            <a:ext cx="6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647002" y="3798585"/>
            <a:ext cx="6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046" dirty="0"/>
          </a:p>
        </p:txBody>
      </p:sp>
      <p:sp>
        <p:nvSpPr>
          <p:cNvPr id="18" name="Text 15"/>
          <p:cNvSpPr/>
          <p:nvPr/>
        </p:nvSpPr>
        <p:spPr>
          <a:xfrm>
            <a:off x="318088" y="3825271"/>
            <a:ext cx="3182942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GUI Implementation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312323" y="4121496"/>
            <a:ext cx="3971925" cy="32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Signal selection from standard types (rectangular, triangular, step, sawtooth)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01734" y="4456831"/>
            <a:ext cx="39719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Parameter specification (amplitude, start/end time)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301734" y="4683314"/>
            <a:ext cx="3993101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animation of the shifting and multiplication process</a:t>
            </a:r>
            <a:endParaRPr lang="en-US" sz="1046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1833" y="1076186"/>
            <a:ext cx="3757358" cy="3874317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194708" y="4040940"/>
            <a:ext cx="4078951" cy="92648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850606" y="4503844"/>
            <a:ext cx="6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4993481" y="4950503"/>
            <a:ext cx="3757613" cy="128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endParaRPr lang="en-US" sz="837" dirty="0"/>
          </a:p>
        </p:txBody>
      </p:sp>
      <p:sp>
        <p:nvSpPr>
          <p:cNvPr id="26" name="Text 22"/>
          <p:cNvSpPr/>
          <p:nvPr/>
        </p:nvSpPr>
        <p:spPr>
          <a:xfrm>
            <a:off x="4993481" y="5279116"/>
            <a:ext cx="65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endParaRPr lang="en-US" sz="837" dirty="0"/>
          </a:p>
        </p:txBody>
      </p:sp>
      <p:sp>
        <p:nvSpPr>
          <p:cNvPr id="27" name="Text 23"/>
          <p:cNvSpPr/>
          <p:nvPr/>
        </p:nvSpPr>
        <p:spPr>
          <a:xfrm>
            <a:off x="4993481" y="5522004"/>
            <a:ext cx="65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endParaRPr lang="en-US" sz="837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A13BB36D-93FD-8370-1E4B-8BABE0F6CEA5}"/>
              </a:ext>
            </a:extLst>
          </p:cNvPr>
          <p:cNvSpPr/>
          <p:nvPr/>
        </p:nvSpPr>
        <p:spPr>
          <a:xfrm>
            <a:off x="321468" y="2235664"/>
            <a:ext cx="214313" cy="214313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AF489C0-8A4A-1D20-758F-48AA1C2CB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468" y="2618547"/>
            <a:ext cx="213378" cy="213378"/>
          </a:xfrm>
          <a:prstGeom prst="rect">
            <a:avLst/>
          </a:prstGeom>
        </p:spPr>
      </p:pic>
      <p:sp>
        <p:nvSpPr>
          <p:cNvPr id="31" name="Shape 9">
            <a:extLst>
              <a:ext uri="{FF2B5EF4-FFF2-40B4-BE49-F238E27FC236}">
                <a16:creationId xmlns:a16="http://schemas.microsoft.com/office/drawing/2014/main" id="{00C75AFF-F30D-11EC-89BC-83E09992E693}"/>
              </a:ext>
            </a:extLst>
          </p:cNvPr>
          <p:cNvSpPr/>
          <p:nvPr/>
        </p:nvSpPr>
        <p:spPr>
          <a:xfrm>
            <a:off x="321468" y="3000495"/>
            <a:ext cx="214313" cy="214313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7E5DF9E9-CB0F-5B33-F025-2C4362D4E27F}"/>
              </a:ext>
            </a:extLst>
          </p:cNvPr>
          <p:cNvSpPr/>
          <p:nvPr/>
        </p:nvSpPr>
        <p:spPr>
          <a:xfrm>
            <a:off x="337838" y="3388608"/>
            <a:ext cx="214313" cy="214313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74E7DD1-9990-FA67-C14E-2E6378028F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483" y="2221706"/>
            <a:ext cx="231668" cy="28044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74AB382-2E79-CF0B-D60E-E84B38946A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323" y="2610422"/>
            <a:ext cx="231668" cy="28044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4FADDF4-A8F0-BB82-9793-83DF5662CE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848" y="2983107"/>
            <a:ext cx="231668" cy="28044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DBFE03C-CA7B-E148-425B-670D944D0D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897" y="3361455"/>
            <a:ext cx="231668" cy="280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326" y="-78582"/>
            <a:ext cx="9144000" cy="67635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35330" y="293965"/>
            <a:ext cx="3273333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Theoretical Overview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85750" y="895975"/>
            <a:ext cx="109966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GUI Setup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14338" y="1213926"/>
            <a:ext cx="381675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Modern UI window with organized panels and input controls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4338" y="1430572"/>
            <a:ext cx="405050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Signal domain selection: Discrete-Time (DT) or Continuous-Time (CT)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4338" y="1801109"/>
            <a:ext cx="410368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DT mode: Numerical vectors and starting indices for x[n] and h[n]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14338" y="2017756"/>
            <a:ext cx="405050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CT mode: Signal shapes (Rectangular, Triangular, etc.) with parameters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4338" y="2388291"/>
            <a:ext cx="370454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Buttons for Convolution, Correlation, and Reset operations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4338" y="2598306"/>
            <a:ext cx="259846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Speed slider to control animation timing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4338" y="2808321"/>
            <a:ext cx="353782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visualization axes: input, shifted signal, and result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85750" y="3121867"/>
            <a:ext cx="163185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Mode Switching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14338" y="3439818"/>
            <a:ext cx="412933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Switches between DT and CT input panels based on user selection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4338" y="3649833"/>
            <a:ext cx="357309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Uses radio button group to determine the active domain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85750" y="3963378"/>
            <a:ext cx="1538883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Core Functions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85750" y="4294194"/>
            <a:ext cx="169758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A. runDiscreteConvolution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4338" y="4523704"/>
            <a:ext cx="405050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Flips h[n], shifts across x[n], multiplies and sums overlapping values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14338" y="4894241"/>
            <a:ext cx="298479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Animates the convolution process step-by-step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85750" y="5145696"/>
            <a:ext cx="163987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B. runDiscreteCorrelation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14338" y="5368574"/>
            <a:ext cx="244618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Shifts h[n-k] over x[n] without flipping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14338" y="5578590"/>
            <a:ext cx="342241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Point-wise multiplication and summing for correlation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679156" y="895975"/>
            <a:ext cx="243977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Functions (Continued)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679156" y="1226791"/>
            <a:ext cx="190436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C. runContinuousConvolution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07744" y="1449670"/>
            <a:ext cx="358431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Approximates convolution integral: y(t) = ∫ x(τ) * h(t-τ) dτ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07744" y="1659685"/>
            <a:ext cx="281166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Uses numerical integration for computation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07744" y="1869700"/>
            <a:ext cx="323325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Plots x(τ), h(t-τ), and buildup of y(t) frame-by-frame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79156" y="2121155"/>
            <a:ext cx="186108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D. runContinuousCorrelation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07744" y="2344034"/>
            <a:ext cx="209672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Computes R(t) = ∫ x(τ) * h(τ-t) dτ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07744" y="2554049"/>
            <a:ext cx="310501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Similar to convolution but without signal flipping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807744" y="2764064"/>
            <a:ext cx="182582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Animates each step visually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679156" y="3077609"/>
            <a:ext cx="2741135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 Reset and Plot Management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807744" y="3395560"/>
            <a:ext cx="298318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Clears plots and resets inputs to default values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807744" y="3605575"/>
            <a:ext cx="221535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Adjusts x/y-axis limits dynamically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807744" y="3815590"/>
            <a:ext cx="321241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Ensures clean visualization for each new operation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679156" y="4129136"/>
            <a:ext cx="1686359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 Utility Functions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4858934" y="4375985"/>
            <a:ext cx="101149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generateSignal: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881884" y="4375985"/>
            <a:ext cx="197650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Creates different shaped signals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858003" y="4595393"/>
            <a:ext cx="99065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pauseForSlider: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883939" y="4585626"/>
            <a:ext cx="161262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Controls animation timing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857025" y="4815707"/>
            <a:ext cx="81111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updateYLim: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870429" y="4817297"/>
            <a:ext cx="199093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Dynamically adjusts y-axis range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285746" y="5807927"/>
            <a:ext cx="8572500" cy="60329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354472" y="5865946"/>
            <a:ext cx="1966885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Conceptual Takeaway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2410928" y="5878449"/>
            <a:ext cx="6514432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GUI provides an interactive, visual, and </a:t>
            </a: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educational</a:t>
            </a:r>
            <a:r>
              <a:rPr lang="en-US" sz="11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way to explore signal operations step-by-step, helping users understand convolution and correlation in </a:t>
            </a:r>
            <a:r>
              <a:rPr lang="en-US" sz="10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</a:t>
            </a:r>
            <a:r>
              <a:rPr lang="en-US" sz="1100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discrete and continuous domains.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GUI Features and Usability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4114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Features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271588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4356" y="1250156"/>
            <a:ext cx="26613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Domain selection (Discrete/Continuous)</a:t>
            </a:r>
            <a:endParaRPr lang="en-US" sz="1046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1593056"/>
            <a:ext cx="192881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5788" y="1571625"/>
            <a:ext cx="264918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Signal input with customization options</a:t>
            </a:r>
            <a:endParaRPr lang="en-US" sz="1046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1914525"/>
            <a:ext cx="171450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64356" y="1893094"/>
            <a:ext cx="295737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Toggle between convolution and correlation</a:t>
            </a:r>
            <a:endParaRPr lang="en-US" sz="1046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" y="2235994"/>
            <a:ext cx="171450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64356" y="2214563"/>
            <a:ext cx="285895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animation with adjustable speed</a:t>
            </a:r>
            <a:endParaRPr lang="en-US" sz="1046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750" y="2557463"/>
            <a:ext cx="171450" cy="17145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64356" y="2536031"/>
            <a:ext cx="255017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Reset functionality for new operations</a:t>
            </a:r>
            <a:endParaRPr lang="en-US" sz="1046" dirty="0"/>
          </a:p>
        </p:txBody>
      </p:sp>
      <p:sp>
        <p:nvSpPr>
          <p:cNvPr id="15" name="Shape 7"/>
          <p:cNvSpPr/>
          <p:nvPr/>
        </p:nvSpPr>
        <p:spPr>
          <a:xfrm>
            <a:off x="285750" y="2964656"/>
            <a:ext cx="4114800" cy="143589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 8"/>
          <p:cNvSpPr/>
          <p:nvPr/>
        </p:nvSpPr>
        <p:spPr>
          <a:xfrm>
            <a:off x="392906" y="3071813"/>
            <a:ext cx="39004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Usability Highlights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392906" y="3462830"/>
            <a:ext cx="308898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Intuitive interface with clearly labeled sections</a:t>
            </a:r>
            <a:endParaRPr lang="en-US" sz="1046" dirty="0"/>
          </a:p>
        </p:txBody>
      </p:sp>
      <p:sp>
        <p:nvSpPr>
          <p:cNvPr id="18" name="Text 10"/>
          <p:cNvSpPr/>
          <p:nvPr/>
        </p:nvSpPr>
        <p:spPr>
          <a:xfrm>
            <a:off x="392906" y="3677142"/>
            <a:ext cx="297677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Synchronized plots for better understanding</a:t>
            </a:r>
            <a:endParaRPr lang="en-US" sz="1046" dirty="0"/>
          </a:p>
        </p:txBody>
      </p:sp>
      <p:sp>
        <p:nvSpPr>
          <p:cNvPr id="19" name="Text 11"/>
          <p:cNvSpPr/>
          <p:nvPr/>
        </p:nvSpPr>
        <p:spPr>
          <a:xfrm>
            <a:off x="392906" y="3891455"/>
            <a:ext cx="226504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 feedback during operation</a:t>
            </a:r>
            <a:endParaRPr lang="en-US" sz="1046" dirty="0"/>
          </a:p>
        </p:txBody>
      </p:sp>
      <p:sp>
        <p:nvSpPr>
          <p:cNvPr id="20" name="Text 12"/>
          <p:cNvSpPr/>
          <p:nvPr/>
        </p:nvSpPr>
        <p:spPr>
          <a:xfrm>
            <a:off x="392906" y="4105767"/>
            <a:ext cx="314509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Educational tool for signal processing concepts</a:t>
            </a:r>
            <a:endParaRPr lang="en-US" sz="1046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4913" y="885825"/>
            <a:ext cx="3571875" cy="1785938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4913" y="2743200"/>
            <a:ext cx="3571875" cy="17859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Introduction to Correlation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94755"/>
            <a:ext cx="14459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is Correlation?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285750" y="1100138"/>
            <a:ext cx="411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measure of similarity between two signals as a function of the displacement of one relative to the other.</a:t>
            </a:r>
            <a:endParaRPr lang="en-US" sz="1046" dirty="0"/>
          </a:p>
        </p:txBody>
      </p:sp>
      <p:sp>
        <p:nvSpPr>
          <p:cNvPr id="6" name="Shape 3"/>
          <p:cNvSpPr/>
          <p:nvPr/>
        </p:nvSpPr>
        <p:spPr>
          <a:xfrm>
            <a:off x="285750" y="1671638"/>
            <a:ext cx="4114800" cy="1071563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92906" y="1778794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continuous time: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392906" y="199310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(f ⋆ g)(t) = ∫ f(τ) g(t + τ) dτ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392906" y="2207419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discrete time: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392906" y="2421731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(f ⋆ g)[n] = Σ f[k] g[n + k]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285750" y="2966442"/>
            <a:ext cx="9259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Applications: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428625" y="3198511"/>
            <a:ext cx="280204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 recognition and feature detection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428625" y="3484261"/>
            <a:ext cx="2909451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Signal alignment and time delay estimation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428625" y="3770011"/>
            <a:ext cx="244297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Noise reduction and signal recovery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428625" y="4055761"/>
            <a:ext cx="285815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 registration and template matching</a:t>
            </a:r>
            <a:endParaRPr lang="en-US" sz="1046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183" y="1368311"/>
            <a:ext cx="4481995" cy="24669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220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Convolution vs. Correlation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9322" y="889397"/>
            <a:ext cx="1273625" cy="392906"/>
          </a:xfrm>
          <a:prstGeom prst="rect">
            <a:avLst/>
          </a:prstGeom>
          <a:solidFill>
            <a:srgbClr val="3498DB">
              <a:alpha val="30000"/>
            </a:srgbClr>
          </a:solidFill>
          <a:ln w="99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89322" y="889397"/>
            <a:ext cx="1273625" cy="39290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</a:t>
            </a:r>
            <a:endParaRPr lang="en-US" sz="1046" dirty="0"/>
          </a:p>
        </p:txBody>
      </p:sp>
      <p:sp>
        <p:nvSpPr>
          <p:cNvPr id="6" name="Shape 3"/>
          <p:cNvSpPr/>
          <p:nvPr/>
        </p:nvSpPr>
        <p:spPr>
          <a:xfrm>
            <a:off x="1562946" y="889397"/>
            <a:ext cx="1422834" cy="392906"/>
          </a:xfrm>
          <a:prstGeom prst="rect">
            <a:avLst/>
          </a:prstGeom>
          <a:solidFill>
            <a:srgbClr val="3498DB">
              <a:alpha val="30000"/>
            </a:srgbClr>
          </a:solidFill>
          <a:ln w="99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62946" y="889397"/>
            <a:ext cx="1422834" cy="39290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Convolution</a:t>
            </a:r>
            <a:endParaRPr lang="en-US" sz="1046" dirty="0"/>
          </a:p>
        </p:txBody>
      </p:sp>
      <p:sp>
        <p:nvSpPr>
          <p:cNvPr id="8" name="Shape 5"/>
          <p:cNvSpPr/>
          <p:nvPr/>
        </p:nvSpPr>
        <p:spPr>
          <a:xfrm>
            <a:off x="2984943" y="889397"/>
            <a:ext cx="1412035" cy="392906"/>
          </a:xfrm>
          <a:prstGeom prst="rect">
            <a:avLst/>
          </a:prstGeom>
          <a:solidFill>
            <a:srgbClr val="3498DB">
              <a:alpha val="30000"/>
            </a:srgbClr>
          </a:solidFill>
          <a:ln w="99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84943" y="889397"/>
            <a:ext cx="1412035" cy="39290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Correlation</a:t>
            </a:r>
            <a:endParaRPr lang="en-US" sz="1046" dirty="0"/>
          </a:p>
        </p:txBody>
      </p:sp>
      <p:sp>
        <p:nvSpPr>
          <p:cNvPr id="10" name="Shape 7"/>
          <p:cNvSpPr/>
          <p:nvPr/>
        </p:nvSpPr>
        <p:spPr>
          <a:xfrm>
            <a:off x="289322" y="1275159"/>
            <a:ext cx="4107656" cy="607219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89322" y="1275159"/>
            <a:ext cx="1275020" cy="60721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Signal Flipping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1564342" y="1275159"/>
            <a:ext cx="1421941" cy="60721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Time-reversal of h(t)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2986283" y="1275159"/>
            <a:ext cx="1410695" cy="60721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time-reversal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289322" y="1882378"/>
            <a:ext cx="1275020" cy="60721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Mathematical Form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1564342" y="1882378"/>
            <a:ext cx="1421941" cy="60721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(f * g)(t) = ∫ f(τ) g(t - τ) dτ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2986283" y="1882378"/>
            <a:ext cx="1410695" cy="60721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(f ⋆ g)(t) = ∫ f(τ) g(t + τ) dτ</a:t>
            </a:r>
            <a:endParaRPr lang="en-US" sz="1046" dirty="0"/>
          </a:p>
        </p:txBody>
      </p:sp>
      <p:sp>
        <p:nvSpPr>
          <p:cNvPr id="17" name="Shape 14"/>
          <p:cNvSpPr/>
          <p:nvPr/>
        </p:nvSpPr>
        <p:spPr>
          <a:xfrm>
            <a:off x="289322" y="2489597"/>
            <a:ext cx="4107656" cy="392906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289322" y="2489597"/>
            <a:ext cx="1275020" cy="39290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Primary Use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1564342" y="2489597"/>
            <a:ext cx="1421941" cy="39290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response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2986283" y="2489597"/>
            <a:ext cx="1410695" cy="39290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 matching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289322" y="2882503"/>
            <a:ext cx="1275020" cy="39290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Commutative</a:t>
            </a:r>
            <a:endParaRPr lang="en-US" sz="1046" dirty="0"/>
          </a:p>
        </p:txBody>
      </p:sp>
      <p:sp>
        <p:nvSpPr>
          <p:cNvPr id="22" name="Text 19"/>
          <p:cNvSpPr/>
          <p:nvPr/>
        </p:nvSpPr>
        <p:spPr>
          <a:xfrm>
            <a:off x="1564342" y="2882503"/>
            <a:ext cx="1421941" cy="39290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Yes (f * g = g * f)</a:t>
            </a:r>
            <a:endParaRPr lang="en-US" sz="1046" dirty="0"/>
          </a:p>
        </p:txBody>
      </p:sp>
      <p:sp>
        <p:nvSpPr>
          <p:cNvPr id="23" name="Text 20"/>
          <p:cNvSpPr/>
          <p:nvPr/>
        </p:nvSpPr>
        <p:spPr>
          <a:xfrm>
            <a:off x="2986283" y="2882503"/>
            <a:ext cx="1410695" cy="39290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(f ⋆ g ≠ g ⋆ f)</a:t>
            </a:r>
            <a:endParaRPr lang="en-US" sz="1046" dirty="0"/>
          </a:p>
        </p:txBody>
      </p:sp>
      <p:sp>
        <p:nvSpPr>
          <p:cNvPr id="24" name="Shape 21"/>
          <p:cNvSpPr/>
          <p:nvPr/>
        </p:nvSpPr>
        <p:spPr>
          <a:xfrm>
            <a:off x="285750" y="3493294"/>
            <a:ext cx="4114800" cy="143589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392906" y="3600450"/>
            <a:ext cx="39004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Difference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378618" y="3964781"/>
            <a:ext cx="390048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fundamental difference is in the direction of shifting: convolution involves time-reversal followed by shifting, while correlation involves only shifting without time-reversal.</a:t>
            </a:r>
            <a:endParaRPr lang="en-US" sz="1046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319" y="1478756"/>
            <a:ext cx="392906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45" y="0"/>
            <a:ext cx="9144000" cy="571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85162" y="322819"/>
            <a:ext cx="2173672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Timeline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4114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Achievements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250156"/>
            <a:ext cx="4114800" cy="18573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35781" y="1357313"/>
            <a:ext cx="37576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Successfully implemented an interactive GUI for visualizing convolution and correlation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535781" y="1857375"/>
            <a:ext cx="37576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Supported both discrete and continuous time domains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535781" y="2143125"/>
            <a:ext cx="37576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Created real-time animation of the convolution process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535781" y="2428875"/>
            <a:ext cx="37576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Implemented adjustable animation speed control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535781" y="2714625"/>
            <a:ext cx="37576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Added correlation functionality as a special feature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357187" y="3770613"/>
            <a:ext cx="4114800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Timeline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34394" y="4069070"/>
            <a:ext cx="1300163" cy="1201731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67503" y="4109773"/>
            <a:ext cx="11572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 1: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454177" y="4279170"/>
            <a:ext cx="11572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Announcement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454004" y="4662879"/>
            <a:ext cx="11572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Planning &amp; Research</a:t>
            </a:r>
            <a:endParaRPr lang="en-US" sz="1046" dirty="0"/>
          </a:p>
        </p:txBody>
      </p:sp>
      <p:sp>
        <p:nvSpPr>
          <p:cNvPr id="16" name="Shape 13"/>
          <p:cNvSpPr/>
          <p:nvPr/>
        </p:nvSpPr>
        <p:spPr>
          <a:xfrm>
            <a:off x="1861149" y="4067629"/>
            <a:ext cx="1300163" cy="1201732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942966" y="4112511"/>
            <a:ext cx="11572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 2:</a:t>
            </a:r>
            <a:endParaRPr lang="en-US" sz="1046" dirty="0"/>
          </a:p>
        </p:txBody>
      </p:sp>
      <p:sp>
        <p:nvSpPr>
          <p:cNvPr id="18" name="Text 15"/>
          <p:cNvSpPr/>
          <p:nvPr/>
        </p:nvSpPr>
        <p:spPr>
          <a:xfrm>
            <a:off x="1952785" y="4279170"/>
            <a:ext cx="11572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Discrete-Time Signal Handling</a:t>
            </a:r>
            <a:endParaRPr lang="en-US" sz="1046" dirty="0"/>
          </a:p>
        </p:txBody>
      </p:sp>
      <p:sp>
        <p:nvSpPr>
          <p:cNvPr id="19" name="Shape 16"/>
          <p:cNvSpPr/>
          <p:nvPr/>
        </p:nvSpPr>
        <p:spPr>
          <a:xfrm>
            <a:off x="3312463" y="4045956"/>
            <a:ext cx="1353004" cy="1224845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421297" y="4112511"/>
            <a:ext cx="11572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 3: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3404567" y="4279170"/>
            <a:ext cx="115728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Continuous-Time Signal Handling</a:t>
            </a:r>
            <a:endParaRPr lang="en-US" sz="1046" dirty="0"/>
          </a:p>
        </p:txBody>
      </p:sp>
      <p:sp>
        <p:nvSpPr>
          <p:cNvPr id="22" name="Shape 19"/>
          <p:cNvSpPr/>
          <p:nvPr/>
        </p:nvSpPr>
        <p:spPr>
          <a:xfrm>
            <a:off x="4780974" y="4072852"/>
            <a:ext cx="1300163" cy="1197950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910593" y="4128174"/>
            <a:ext cx="11572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 4:</a:t>
            </a:r>
            <a:endParaRPr lang="en-US" sz="1046" dirty="0"/>
          </a:p>
        </p:txBody>
      </p:sp>
      <p:sp>
        <p:nvSpPr>
          <p:cNvPr id="24" name="Text 21"/>
          <p:cNvSpPr/>
          <p:nvPr/>
        </p:nvSpPr>
        <p:spPr>
          <a:xfrm>
            <a:off x="4893863" y="4234254"/>
            <a:ext cx="11572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GUI Development</a:t>
            </a:r>
            <a:endParaRPr lang="en-US" sz="1046" dirty="0"/>
          </a:p>
        </p:txBody>
      </p:sp>
      <p:sp>
        <p:nvSpPr>
          <p:cNvPr id="25" name="Text 22"/>
          <p:cNvSpPr/>
          <p:nvPr/>
        </p:nvSpPr>
        <p:spPr>
          <a:xfrm>
            <a:off x="4875679" y="4493483"/>
            <a:ext cx="11572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Interaction Design</a:t>
            </a:r>
            <a:endParaRPr lang="en-US" sz="1046" dirty="0"/>
          </a:p>
        </p:txBody>
      </p:sp>
      <p:sp>
        <p:nvSpPr>
          <p:cNvPr id="26" name="Shape 23"/>
          <p:cNvSpPr/>
          <p:nvPr/>
        </p:nvSpPr>
        <p:spPr>
          <a:xfrm>
            <a:off x="6193885" y="4058106"/>
            <a:ext cx="1300163" cy="1197950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297482" y="4117458"/>
            <a:ext cx="11572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 5:</a:t>
            </a:r>
            <a:endParaRPr lang="en-US" sz="1046" dirty="0"/>
          </a:p>
        </p:txBody>
      </p:sp>
      <p:sp>
        <p:nvSpPr>
          <p:cNvPr id="28" name="Text 25"/>
          <p:cNvSpPr/>
          <p:nvPr/>
        </p:nvSpPr>
        <p:spPr>
          <a:xfrm>
            <a:off x="6316667" y="4369596"/>
            <a:ext cx="11572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Animation</a:t>
            </a:r>
            <a:endParaRPr lang="en-US" sz="1046" dirty="0"/>
          </a:p>
        </p:txBody>
      </p:sp>
      <p:sp>
        <p:nvSpPr>
          <p:cNvPr id="29" name="Text 26"/>
          <p:cNvSpPr/>
          <p:nvPr/>
        </p:nvSpPr>
        <p:spPr>
          <a:xfrm>
            <a:off x="6316667" y="4558727"/>
            <a:ext cx="11572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Speed Control</a:t>
            </a:r>
            <a:endParaRPr lang="en-US" sz="1046" dirty="0"/>
          </a:p>
        </p:txBody>
      </p:sp>
      <p:sp>
        <p:nvSpPr>
          <p:cNvPr id="30" name="Shape 27"/>
          <p:cNvSpPr/>
          <p:nvPr/>
        </p:nvSpPr>
        <p:spPr>
          <a:xfrm>
            <a:off x="7617728" y="4063046"/>
            <a:ext cx="1300163" cy="1206315"/>
          </a:xfrm>
          <a:prstGeom prst="rect">
            <a:avLst/>
          </a:prstGeom>
          <a:solidFill>
            <a:srgbClr val="3498DB">
              <a:alpha val="1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7740379" y="4128174"/>
            <a:ext cx="11572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 6:</a:t>
            </a:r>
            <a:endParaRPr lang="en-US" sz="1046" dirty="0"/>
          </a:p>
        </p:txBody>
      </p:sp>
      <p:sp>
        <p:nvSpPr>
          <p:cNvPr id="32" name="Text 29"/>
          <p:cNvSpPr/>
          <p:nvPr/>
        </p:nvSpPr>
        <p:spPr>
          <a:xfrm>
            <a:off x="7754482" y="4355129"/>
            <a:ext cx="11572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Debugging</a:t>
            </a:r>
            <a:endParaRPr lang="en-US" sz="1046" dirty="0"/>
          </a:p>
        </p:txBody>
      </p:sp>
      <p:sp>
        <p:nvSpPr>
          <p:cNvPr id="33" name="Text 30"/>
          <p:cNvSpPr/>
          <p:nvPr/>
        </p:nvSpPr>
        <p:spPr>
          <a:xfrm>
            <a:off x="7760603" y="4588296"/>
            <a:ext cx="11572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Documentation</a:t>
            </a:r>
            <a:endParaRPr lang="en-US" sz="1046" dirty="0"/>
          </a:p>
        </p:txBody>
      </p:sp>
      <p:sp>
        <p:nvSpPr>
          <p:cNvPr id="34" name="Text 31"/>
          <p:cNvSpPr/>
          <p:nvPr/>
        </p:nvSpPr>
        <p:spPr>
          <a:xfrm>
            <a:off x="7760603" y="4820245"/>
            <a:ext cx="11572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Finalization</a:t>
            </a:r>
            <a:endParaRPr lang="en-US" sz="1046" dirty="0"/>
          </a:p>
        </p:txBody>
      </p:sp>
      <p:sp>
        <p:nvSpPr>
          <p:cNvPr id="35" name="Text 32"/>
          <p:cNvSpPr/>
          <p:nvPr/>
        </p:nvSpPr>
        <p:spPr>
          <a:xfrm>
            <a:off x="1685877" y="6605186"/>
            <a:ext cx="6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1046" dirty="0"/>
          </a:p>
        </p:txBody>
      </p:sp>
      <p:sp>
        <p:nvSpPr>
          <p:cNvPr id="36" name="Text 33"/>
          <p:cNvSpPr/>
          <p:nvPr/>
        </p:nvSpPr>
        <p:spPr>
          <a:xfrm>
            <a:off x="2343115" y="6652909"/>
            <a:ext cx="6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1046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4" y="821531"/>
            <a:ext cx="4114800" cy="285750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305628" y="3604022"/>
            <a:ext cx="29332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F0F0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Skills and knowledge development through the project</a:t>
            </a:r>
            <a:endParaRPr lang="en-US" sz="83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54189" y="653653"/>
            <a:ext cx="2835622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 You!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3287018" y="1639491"/>
            <a:ext cx="256996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Questions &amp; Answers</a:t>
            </a:r>
            <a:endParaRPr lang="en-US" sz="2025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491" y="2739628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953689" y="3189684"/>
            <a:ext cx="7425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Questions?</a:t>
            </a:r>
            <a:endParaRPr lang="en-US" sz="1046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0875" y="2739628"/>
            <a:ext cx="428625" cy="342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67721" y="3189684"/>
            <a:ext cx="71496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Discussion</a:t>
            </a:r>
            <a:endParaRPr lang="en-US" sz="1046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3631" y="2739628"/>
            <a:ext cx="257175" cy="3429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554182" y="3189684"/>
            <a:ext cx="63610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Feedback</a:t>
            </a:r>
            <a:endParaRPr lang="en-US" sz="1046" dirty="0"/>
          </a:p>
        </p:txBody>
      </p:sp>
      <p:sp>
        <p:nvSpPr>
          <p:cNvPr id="11" name="Text 5"/>
          <p:cNvSpPr/>
          <p:nvPr/>
        </p:nvSpPr>
        <p:spPr>
          <a:xfrm>
            <a:off x="4571960" y="4000210"/>
            <a:ext cx="6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1138</Words>
  <Application>Microsoft Office PowerPoint</Application>
  <PresentationFormat>On-screen Show (16:9)</PresentationFormat>
  <Paragraphs>183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Ar-Rafi Ishraq</cp:lastModifiedBy>
  <cp:revision>7</cp:revision>
  <dcterms:created xsi:type="dcterms:W3CDTF">2025-07-24T16:00:51Z</dcterms:created>
  <dcterms:modified xsi:type="dcterms:W3CDTF">2025-07-24T22:24:53Z</dcterms:modified>
</cp:coreProperties>
</file>